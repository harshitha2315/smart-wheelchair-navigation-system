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556" y="1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111799">
            <a:off x="12057840" y="1053000"/>
            <a:ext cx="10443240" cy="8487360"/>
          </a:xfrm>
          <a:custGeom>
            <a:avLst/>
            <a:gdLst/>
            <a:ahLst/>
            <a:cxnLst/>
            <a:rect l="l" t="t" r="r" b="b"/>
            <a:pathLst>
              <a:path w="10443240" h="8487360">
                <a:moveTo>
                  <a:pt x="0" y="0"/>
                </a:moveTo>
                <a:lnTo>
                  <a:pt x="10443240" y="0"/>
                </a:lnTo>
                <a:lnTo>
                  <a:pt x="10443240" y="8487360"/>
                </a:lnTo>
                <a:lnTo>
                  <a:pt x="0" y="8487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93" b="-19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318560" y="9258480"/>
            <a:ext cx="9726840" cy="3106440"/>
          </a:xfrm>
          <a:custGeom>
            <a:avLst/>
            <a:gdLst/>
            <a:ahLst/>
            <a:cxnLst/>
            <a:rect l="l" t="t" r="r" b="b"/>
            <a:pathLst>
              <a:path w="9726840" h="3106440">
                <a:moveTo>
                  <a:pt x="0" y="0"/>
                </a:moveTo>
                <a:lnTo>
                  <a:pt x="9726840" y="0"/>
                </a:lnTo>
                <a:lnTo>
                  <a:pt x="9726840" y="3106440"/>
                </a:lnTo>
                <a:lnTo>
                  <a:pt x="0" y="31064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46" b="-24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363320" y="3240"/>
            <a:ext cx="6779160" cy="1303920"/>
            <a:chOff x="0" y="0"/>
            <a:chExt cx="9038880" cy="17385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38844" cy="1738503"/>
            </a:xfrm>
            <a:custGeom>
              <a:avLst/>
              <a:gdLst/>
              <a:ahLst/>
              <a:cxnLst/>
              <a:rect l="l" t="t" r="r" b="b"/>
              <a:pathLst>
                <a:path w="9038844" h="1738503">
                  <a:moveTo>
                    <a:pt x="0" y="0"/>
                  </a:moveTo>
                  <a:lnTo>
                    <a:pt x="9038844" y="0"/>
                  </a:lnTo>
                  <a:lnTo>
                    <a:pt x="9038844" y="1738503"/>
                  </a:lnTo>
                  <a:lnTo>
                    <a:pt x="0" y="173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0" b="-7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222840"/>
            <a:ext cx="3483720" cy="1063800"/>
            <a:chOff x="0" y="0"/>
            <a:chExt cx="4644960" cy="141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44898" cy="1418463"/>
            </a:xfrm>
            <a:custGeom>
              <a:avLst/>
              <a:gdLst/>
              <a:ahLst/>
              <a:cxnLst/>
              <a:rect l="l" t="t" r="r" b="b"/>
              <a:pathLst>
                <a:path w="4644898" h="1418463">
                  <a:moveTo>
                    <a:pt x="0" y="0"/>
                  </a:moveTo>
                  <a:lnTo>
                    <a:pt x="4644898" y="0"/>
                  </a:lnTo>
                  <a:lnTo>
                    <a:pt x="4644898" y="1418463"/>
                  </a:lnTo>
                  <a:lnTo>
                    <a:pt x="0" y="14184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02" r="-1" b="-98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47480" y="2429944"/>
            <a:ext cx="6963120" cy="1306136"/>
            <a:chOff x="0" y="-399915"/>
            <a:chExt cx="9284160" cy="17415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84160" cy="1341600"/>
            </a:xfrm>
            <a:custGeom>
              <a:avLst/>
              <a:gdLst/>
              <a:ahLst/>
              <a:cxnLst/>
              <a:rect l="l" t="t" r="r" b="b"/>
              <a:pathLst>
                <a:path w="9284160" h="1341600">
                  <a:moveTo>
                    <a:pt x="0" y="0"/>
                  </a:moveTo>
                  <a:lnTo>
                    <a:pt x="9284160" y="0"/>
                  </a:lnTo>
                  <a:lnTo>
                    <a:pt x="9284160" y="1341600"/>
                  </a:lnTo>
                  <a:lnTo>
                    <a:pt x="0" y="134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99915"/>
              <a:ext cx="9284160" cy="11796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8000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TNWISE2025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01760" y="3624919"/>
            <a:ext cx="15802560" cy="1237601"/>
            <a:chOff x="0" y="-644535"/>
            <a:chExt cx="21070080" cy="16501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070080" cy="1005600"/>
            </a:xfrm>
            <a:custGeom>
              <a:avLst/>
              <a:gdLst/>
              <a:ahLst/>
              <a:cxnLst/>
              <a:rect l="l" t="t" r="r" b="b"/>
              <a:pathLst>
                <a:path w="21070080" h="1005600">
                  <a:moveTo>
                    <a:pt x="0" y="0"/>
                  </a:moveTo>
                  <a:lnTo>
                    <a:pt x="21070080" y="0"/>
                  </a:lnTo>
                  <a:lnTo>
                    <a:pt x="21070080" y="1005600"/>
                  </a:lnTo>
                  <a:lnTo>
                    <a:pt x="0" y="100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44535"/>
              <a:ext cx="21070080" cy="11103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941"/>
                </a:lnSpc>
              </a:pPr>
              <a:r>
                <a:rPr lang="en-US" sz="40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HACKATHON FOR WOMEN IN SCIENCE &amp; ENGINEERING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81000" y="4838700"/>
            <a:ext cx="17439000" cy="1697386"/>
            <a:chOff x="-51728" y="85725"/>
            <a:chExt cx="14428688" cy="2822415"/>
          </a:xfrm>
        </p:grpSpPr>
        <p:sp>
          <p:nvSpPr>
            <p:cNvPr id="15" name="Freeform 15"/>
            <p:cNvSpPr/>
            <p:nvPr/>
          </p:nvSpPr>
          <p:spPr>
            <a:xfrm>
              <a:off x="0" y="2237100"/>
              <a:ext cx="14376960" cy="671040"/>
            </a:xfrm>
            <a:custGeom>
              <a:avLst/>
              <a:gdLst/>
              <a:ahLst/>
              <a:cxnLst/>
              <a:rect l="l" t="t" r="r" b="b"/>
              <a:pathLst>
                <a:path w="14376960" h="671040">
                  <a:moveTo>
                    <a:pt x="0" y="0"/>
                  </a:moveTo>
                  <a:lnTo>
                    <a:pt x="14376960" y="0"/>
                  </a:lnTo>
                  <a:lnTo>
                    <a:pt x="14376960" y="671040"/>
                  </a:lnTo>
                  <a:lnTo>
                    <a:pt x="0" y="671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-51728" y="85725"/>
              <a:ext cx="14376960" cy="5853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40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THEME: </a:t>
              </a:r>
              <a:r>
                <a:rPr lang="en-US" sz="3600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INCLUSIVE</a:t>
              </a:r>
              <a:r>
                <a:rPr lang="en-US" sz="3600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 MOBILITY AND TRANSPORTATION</a:t>
              </a:r>
              <a:endParaRPr lang="en-US" sz="4000" b="1" spc="-1" dirty="0"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4800" y="5829300"/>
            <a:ext cx="17484480" cy="2044053"/>
            <a:chOff x="0" y="-609639"/>
            <a:chExt cx="14501119" cy="3024439"/>
          </a:xfrm>
        </p:grpSpPr>
        <p:sp>
          <p:nvSpPr>
            <p:cNvPr id="18" name="Freeform 18"/>
            <p:cNvSpPr/>
            <p:nvPr/>
          </p:nvSpPr>
          <p:spPr>
            <a:xfrm>
              <a:off x="0" y="1743760"/>
              <a:ext cx="14376960" cy="671040"/>
            </a:xfrm>
            <a:custGeom>
              <a:avLst/>
              <a:gdLst/>
              <a:ahLst/>
              <a:cxnLst/>
              <a:rect l="l" t="t" r="r" b="b"/>
              <a:pathLst>
                <a:path w="14376960" h="671040">
                  <a:moveTo>
                    <a:pt x="0" y="0"/>
                  </a:moveTo>
                  <a:lnTo>
                    <a:pt x="14376960" y="0"/>
                  </a:lnTo>
                  <a:lnTo>
                    <a:pt x="14376960" y="671040"/>
                  </a:lnTo>
                  <a:lnTo>
                    <a:pt x="0" y="671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159" y="-609639"/>
              <a:ext cx="14376960" cy="58531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40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TITLE: </a:t>
              </a:r>
              <a:r>
                <a:rPr lang="en-US" sz="3200" spc="-5" dirty="0">
                  <a:effectLst/>
                  <a:latin typeface="Montserrat Bold" panose="020B0604020202020204" charset="0"/>
                  <a:ea typeface="Calibri" panose="020F0502020204030204" pitchFamily="34" charset="0"/>
                </a:rPr>
                <a:t>SMART WHEELCHAIR FOR PHYSICALLY CHALLENGED PEOPLE</a:t>
              </a:r>
              <a:endParaRPr lang="en-US" sz="4000" spc="-1" dirty="0">
                <a:latin typeface="Montserrat Bold" panose="020B0604020202020204" charset="0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01760" y="6819900"/>
            <a:ext cx="17418240" cy="1006200"/>
            <a:chOff x="0" y="0"/>
            <a:chExt cx="23224320" cy="1341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3224320" cy="1341600"/>
            </a:xfrm>
            <a:custGeom>
              <a:avLst/>
              <a:gdLst/>
              <a:ahLst/>
              <a:cxnLst/>
              <a:rect l="l" t="t" r="r" b="b"/>
              <a:pathLst>
                <a:path w="23224320" h="1341600">
                  <a:moveTo>
                    <a:pt x="0" y="0"/>
                  </a:moveTo>
                  <a:lnTo>
                    <a:pt x="23224320" y="0"/>
                  </a:lnTo>
                  <a:lnTo>
                    <a:pt x="23224320" y="1341600"/>
                  </a:lnTo>
                  <a:lnTo>
                    <a:pt x="0" y="1341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85725"/>
              <a:ext cx="23224320" cy="12558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40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COLLEGE</a:t>
              </a:r>
              <a:r>
                <a:rPr lang="en-US" sz="36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: </a:t>
              </a:r>
              <a:r>
                <a:rPr lang="en-US" sz="3600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Avinashilingam Institute for Home science and Higher Education for Women</a:t>
              </a:r>
              <a:endParaRPr lang="en-US" sz="4000" b="1" spc="-1" dirty="0"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0880" y="8258974"/>
            <a:ext cx="10782720" cy="1380326"/>
            <a:chOff x="0" y="85725"/>
            <a:chExt cx="14376960" cy="1840435"/>
          </a:xfrm>
        </p:grpSpPr>
        <p:sp>
          <p:nvSpPr>
            <p:cNvPr id="24" name="Freeform 24"/>
            <p:cNvSpPr/>
            <p:nvPr/>
          </p:nvSpPr>
          <p:spPr>
            <a:xfrm>
              <a:off x="0" y="1255120"/>
              <a:ext cx="14376960" cy="671040"/>
            </a:xfrm>
            <a:custGeom>
              <a:avLst/>
              <a:gdLst/>
              <a:ahLst/>
              <a:cxnLst/>
              <a:rect l="l" t="t" r="r" b="b"/>
              <a:pathLst>
                <a:path w="14376960" h="671040">
                  <a:moveTo>
                    <a:pt x="0" y="0"/>
                  </a:moveTo>
                  <a:lnTo>
                    <a:pt x="14376960" y="0"/>
                  </a:lnTo>
                  <a:lnTo>
                    <a:pt x="14376960" y="671040"/>
                  </a:lnTo>
                  <a:lnTo>
                    <a:pt x="0" y="6710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85725"/>
              <a:ext cx="14376960" cy="5853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960"/>
                </a:lnSpc>
              </a:pPr>
              <a:r>
                <a:rPr lang="en-US" sz="4000" b="1" spc="-1" dirty="0">
                  <a:solidFill>
                    <a:srgbClr val="2BB4D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LEADER NAME: </a:t>
              </a:r>
              <a:r>
                <a:rPr lang="en-US" sz="3600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ASHIKA B</a:t>
              </a:r>
              <a:endParaRPr lang="en-US" sz="4000" b="1" spc="-1" dirty="0"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6" name="Freeform 26" descr="A red triangle on a black background  AI-generated content may be incorrect."/>
          <p:cNvSpPr/>
          <p:nvPr/>
        </p:nvSpPr>
        <p:spPr>
          <a:xfrm>
            <a:off x="443520" y="141120"/>
            <a:ext cx="1864080" cy="1802160"/>
          </a:xfrm>
          <a:custGeom>
            <a:avLst/>
            <a:gdLst/>
            <a:ahLst/>
            <a:cxnLst/>
            <a:rect l="l" t="t" r="r" b="b"/>
            <a:pathLst>
              <a:path w="1864080" h="1802160">
                <a:moveTo>
                  <a:pt x="0" y="0"/>
                </a:moveTo>
                <a:lnTo>
                  <a:pt x="1864080" y="0"/>
                </a:lnTo>
                <a:lnTo>
                  <a:pt x="1864080" y="1802160"/>
                </a:lnTo>
                <a:lnTo>
                  <a:pt x="0" y="18021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" r="-9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4800" y="1656360"/>
            <a:ext cx="6629400" cy="710640"/>
            <a:chOff x="-355840" y="0"/>
            <a:chExt cx="8525440" cy="9475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69600" cy="947520"/>
            </a:xfrm>
            <a:custGeom>
              <a:avLst/>
              <a:gdLst/>
              <a:ahLst/>
              <a:cxnLst/>
              <a:rect l="l" t="t" r="r" b="b"/>
              <a:pathLst>
                <a:path w="8169600" h="947520">
                  <a:moveTo>
                    <a:pt x="0" y="0"/>
                  </a:moveTo>
                  <a:lnTo>
                    <a:pt x="8169600" y="0"/>
                  </a:lnTo>
                  <a:lnTo>
                    <a:pt x="8169600" y="947520"/>
                  </a:lnTo>
                  <a:lnTo>
                    <a:pt x="0" y="947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355840" y="0"/>
              <a:ext cx="8525440" cy="9475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598"/>
                </a:lnSpc>
              </a:pPr>
              <a:r>
                <a:rPr lang="en-US" sz="4000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STATEMENT :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228600" y="4000500"/>
            <a:ext cx="8724708" cy="7606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ts val="5598"/>
              </a:lnSpc>
            </a:pPr>
            <a:r>
              <a:rPr lang="en-US" sz="4000" b="1" spc="-1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OF THE WORK: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9662040"/>
            <a:ext cx="2046600" cy="624600"/>
            <a:chOff x="0" y="0"/>
            <a:chExt cx="2728800" cy="83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28849" cy="832739"/>
            </a:xfrm>
            <a:custGeom>
              <a:avLst/>
              <a:gdLst/>
              <a:ahLst/>
              <a:cxnLst/>
              <a:rect l="l" t="t" r="r" b="b"/>
              <a:pathLst>
                <a:path w="2728849" h="832739">
                  <a:moveTo>
                    <a:pt x="0" y="0"/>
                  </a:moveTo>
                  <a:lnTo>
                    <a:pt x="2728849" y="0"/>
                  </a:lnTo>
                  <a:lnTo>
                    <a:pt x="2728849" y="832739"/>
                  </a:lnTo>
                  <a:lnTo>
                    <a:pt x="0" y="83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1" r="1" b="-138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411200" y="0"/>
            <a:ext cx="4572000" cy="1039980"/>
            <a:chOff x="0" y="0"/>
            <a:chExt cx="9038880" cy="173856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38844" cy="1738503"/>
            </a:xfrm>
            <a:custGeom>
              <a:avLst/>
              <a:gdLst/>
              <a:ahLst/>
              <a:cxnLst/>
              <a:rect l="l" t="t" r="r" b="b"/>
              <a:pathLst>
                <a:path w="9038844" h="1738503">
                  <a:moveTo>
                    <a:pt x="0" y="0"/>
                  </a:moveTo>
                  <a:lnTo>
                    <a:pt x="9038844" y="0"/>
                  </a:lnTo>
                  <a:lnTo>
                    <a:pt x="9038844" y="1738503"/>
                  </a:lnTo>
                  <a:lnTo>
                    <a:pt x="0" y="173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0" b="-73"/>
              </a:stretch>
            </a:blipFill>
          </p:spPr>
        </p:sp>
      </p:grpSp>
      <p:sp>
        <p:nvSpPr>
          <p:cNvPr id="17" name="Freeform 17" descr="A red triangle on a black background  AI-generated content may be incorrect."/>
          <p:cNvSpPr/>
          <p:nvPr/>
        </p:nvSpPr>
        <p:spPr>
          <a:xfrm>
            <a:off x="138720" y="217320"/>
            <a:ext cx="1004280" cy="1039980"/>
          </a:xfrm>
          <a:custGeom>
            <a:avLst/>
            <a:gdLst/>
            <a:ahLst/>
            <a:cxnLst/>
            <a:rect l="l" t="t" r="r" b="b"/>
            <a:pathLst>
              <a:path w="1448640" h="1400760">
                <a:moveTo>
                  <a:pt x="0" y="0"/>
                </a:moveTo>
                <a:lnTo>
                  <a:pt x="1448640" y="0"/>
                </a:lnTo>
                <a:lnTo>
                  <a:pt x="1448640" y="1400760"/>
                </a:lnTo>
                <a:lnTo>
                  <a:pt x="0" y="1400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" r="-6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64120" y="5006580"/>
            <a:ext cx="7175880" cy="2727720"/>
          </a:xfrm>
          <a:custGeom>
            <a:avLst/>
            <a:gdLst/>
            <a:ahLst/>
            <a:cxnLst/>
            <a:rect l="l" t="t" r="r" b="b"/>
            <a:pathLst>
              <a:path w="9567840" h="3636960">
                <a:moveTo>
                  <a:pt x="0" y="0"/>
                </a:moveTo>
                <a:lnTo>
                  <a:pt x="9567840" y="0"/>
                </a:lnTo>
                <a:lnTo>
                  <a:pt x="9567840" y="3636960"/>
                </a:lnTo>
                <a:lnTo>
                  <a:pt x="0" y="363696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21" name="Freeform 21"/>
          <p:cNvSpPr/>
          <p:nvPr/>
        </p:nvSpPr>
        <p:spPr>
          <a:xfrm>
            <a:off x="12573000" y="1409700"/>
            <a:ext cx="5334000" cy="9067800"/>
          </a:xfrm>
          <a:custGeom>
            <a:avLst/>
            <a:gdLst/>
            <a:ahLst/>
            <a:cxnLst/>
            <a:rect l="l" t="t" r="r" b="b"/>
            <a:pathLst>
              <a:path w="3709864" h="5584225">
                <a:moveTo>
                  <a:pt x="0" y="0"/>
                </a:moveTo>
                <a:lnTo>
                  <a:pt x="3709864" y="0"/>
                </a:lnTo>
                <a:lnTo>
                  <a:pt x="3709864" y="5584225"/>
                </a:lnTo>
                <a:lnTo>
                  <a:pt x="0" y="55842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495"/>
            </a:stretch>
          </a:blipFill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684F1A-1030-ADC0-75B5-915ED5EE720B}"/>
              </a:ext>
            </a:extLst>
          </p:cNvPr>
          <p:cNvSpPr txBox="1"/>
          <p:nvPr/>
        </p:nvSpPr>
        <p:spPr>
          <a:xfrm>
            <a:off x="462643" y="4914900"/>
            <a:ext cx="10662557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design </a:t>
            </a:r>
            <a:r>
              <a:rPr 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smart navigation system </a:t>
            </a: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for wheelchairs.</a:t>
            </a:r>
          </a:p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enable </a:t>
            </a:r>
            <a:r>
              <a:rPr 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autonomous movement </a:t>
            </a: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with </a:t>
            </a:r>
            <a:r>
              <a:rPr 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obstacle detection </a:t>
            </a: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using ultrasonic sensors</a:t>
            </a:r>
          </a:p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.To integrate </a:t>
            </a:r>
            <a:r>
              <a:rPr lang="en-US" sz="32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GPS tracking </a:t>
            </a: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for real-time location monitoring.</a:t>
            </a:r>
          </a:p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Enhanced Mobility and Independence</a:t>
            </a:r>
          </a:p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develop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mobile application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for remote control and tracking.</a:t>
            </a:r>
          </a:p>
          <a:p>
            <a:pPr marL="386080" lvl="1" indent="-193040" algn="just">
              <a:lnSpc>
                <a:spcPts val="38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To create a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modular kit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that can be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attached to any standard wheelchair.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3ADD6B-5025-A0ED-E50D-E84F69EF119F}"/>
              </a:ext>
            </a:extLst>
          </p:cNvPr>
          <p:cNvSpPr txBox="1"/>
          <p:nvPr/>
        </p:nvSpPr>
        <p:spPr>
          <a:xfrm>
            <a:off x="533400" y="2552700"/>
            <a:ext cx="11506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Traditional wheelchairs lack smart features, limiting mobility and safety for users with disabilities.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9662040"/>
            <a:ext cx="2046600" cy="624600"/>
            <a:chOff x="0" y="0"/>
            <a:chExt cx="2728800" cy="83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8849" cy="832739"/>
            </a:xfrm>
            <a:custGeom>
              <a:avLst/>
              <a:gdLst/>
              <a:ahLst/>
              <a:cxnLst/>
              <a:rect l="l" t="t" r="r" b="b"/>
              <a:pathLst>
                <a:path w="2728849" h="832739">
                  <a:moveTo>
                    <a:pt x="0" y="0"/>
                  </a:moveTo>
                  <a:lnTo>
                    <a:pt x="2728849" y="0"/>
                  </a:lnTo>
                  <a:lnTo>
                    <a:pt x="2728849" y="832739"/>
                  </a:lnTo>
                  <a:lnTo>
                    <a:pt x="0" y="83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31" r="1" b="-13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127840" y="114120"/>
            <a:ext cx="6779160" cy="1303920"/>
            <a:chOff x="0" y="0"/>
            <a:chExt cx="9038880" cy="17385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38844" cy="1738503"/>
            </a:xfrm>
            <a:custGeom>
              <a:avLst/>
              <a:gdLst/>
              <a:ahLst/>
              <a:cxnLst/>
              <a:rect l="l" t="t" r="r" b="b"/>
              <a:pathLst>
                <a:path w="9038844" h="1738503">
                  <a:moveTo>
                    <a:pt x="0" y="0"/>
                  </a:moveTo>
                  <a:lnTo>
                    <a:pt x="9038844" y="0"/>
                  </a:lnTo>
                  <a:lnTo>
                    <a:pt x="9038844" y="1738503"/>
                  </a:lnTo>
                  <a:lnTo>
                    <a:pt x="0" y="173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0" b="-73"/>
              </a:stretch>
            </a:blipFill>
          </p:spPr>
        </p:sp>
      </p:grpSp>
      <p:sp>
        <p:nvSpPr>
          <p:cNvPr id="9" name="Freeform 9" descr="A red triangle on a black background  AI-generated content may be incorrect."/>
          <p:cNvSpPr/>
          <p:nvPr/>
        </p:nvSpPr>
        <p:spPr>
          <a:xfrm>
            <a:off x="443520" y="141120"/>
            <a:ext cx="1448640" cy="1400760"/>
          </a:xfrm>
          <a:custGeom>
            <a:avLst/>
            <a:gdLst/>
            <a:ahLst/>
            <a:cxnLst/>
            <a:rect l="l" t="t" r="r" b="b"/>
            <a:pathLst>
              <a:path w="1448640" h="1400760">
                <a:moveTo>
                  <a:pt x="0" y="0"/>
                </a:moveTo>
                <a:lnTo>
                  <a:pt x="1448640" y="0"/>
                </a:lnTo>
                <a:lnTo>
                  <a:pt x="1448640" y="1400760"/>
                </a:lnTo>
                <a:lnTo>
                  <a:pt x="0" y="1400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" r="-68"/>
            </a:stretch>
          </a:blipFill>
        </p:spPr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ED774616-51B3-2D57-2E38-26FD04B76B25}"/>
              </a:ext>
            </a:extLst>
          </p:cNvPr>
          <p:cNvSpPr txBox="1"/>
          <p:nvPr/>
        </p:nvSpPr>
        <p:spPr>
          <a:xfrm>
            <a:off x="533400" y="1943100"/>
            <a:ext cx="6898200" cy="62455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598"/>
              </a:lnSpc>
            </a:pPr>
            <a:r>
              <a:rPr lang="en-US" sz="4000" b="1" spc="-1" dirty="0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DESCRIPTION: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34297-6BBB-B090-1978-3B9193697AA1}"/>
              </a:ext>
            </a:extLst>
          </p:cNvPr>
          <p:cNvSpPr txBox="1"/>
          <p:nvPr/>
        </p:nvSpPr>
        <p:spPr>
          <a:xfrm>
            <a:off x="500743" y="2805172"/>
            <a:ext cx="8948057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Wheelchair is an innovative solution designed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upgrade traditional wheelchairs with advanced features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autonomous movement, obstacle detection, mobile control, and GPS tracking.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real-time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adjusts the wheelchair’s path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user safety.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also connects to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allows users or caregivers 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control the wheelchair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view its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location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an integrated GPS module.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is designed as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kit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be attached to most standard wheelchairs, making it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customizable and adaptable.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options for mechanical modifications based on user needs, the Smart Wheelchair aims to provide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greater independence, safety, and mobility for individuals with physical disabilities.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B73F64-45A0-1A31-F60F-4216CEA4C6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2511" y="1962790"/>
            <a:ext cx="3432720" cy="3766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3F4DDF7-159C-95CA-0EFA-051223B5AA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4480" y="6180646"/>
            <a:ext cx="3432720" cy="37664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D69BB9-FA10-8200-5706-24121706D3B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9555" y="2020282"/>
            <a:ext cx="3074190" cy="35254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329BD10-8C57-50B2-16E7-9A62FC063E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3086" y="1696070"/>
            <a:ext cx="7941101" cy="84768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0880" y="38880"/>
            <a:ext cx="6779160" cy="1303920"/>
            <a:chOff x="0" y="0"/>
            <a:chExt cx="9038880" cy="17385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8844" cy="1738503"/>
            </a:xfrm>
            <a:custGeom>
              <a:avLst/>
              <a:gdLst/>
              <a:ahLst/>
              <a:cxnLst/>
              <a:rect l="l" t="t" r="r" b="b"/>
              <a:pathLst>
                <a:path w="9038844" h="1738503">
                  <a:moveTo>
                    <a:pt x="0" y="0"/>
                  </a:moveTo>
                  <a:lnTo>
                    <a:pt x="9038844" y="0"/>
                  </a:lnTo>
                  <a:lnTo>
                    <a:pt x="9038844" y="1738503"/>
                  </a:lnTo>
                  <a:lnTo>
                    <a:pt x="0" y="173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0" b="-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15600" y="9319500"/>
            <a:ext cx="2046600" cy="624600"/>
            <a:chOff x="0" y="0"/>
            <a:chExt cx="2728800" cy="83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28849" cy="832739"/>
            </a:xfrm>
            <a:custGeom>
              <a:avLst/>
              <a:gdLst/>
              <a:ahLst/>
              <a:cxnLst/>
              <a:rect l="l" t="t" r="r" b="b"/>
              <a:pathLst>
                <a:path w="2728849" h="832739">
                  <a:moveTo>
                    <a:pt x="0" y="0"/>
                  </a:moveTo>
                  <a:lnTo>
                    <a:pt x="2728849" y="0"/>
                  </a:lnTo>
                  <a:lnTo>
                    <a:pt x="2728849" y="832739"/>
                  </a:lnTo>
                  <a:lnTo>
                    <a:pt x="0" y="83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1" r="1" b="-13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950400" y="2037240"/>
            <a:ext cx="8044920" cy="710640"/>
          </a:xfrm>
          <a:custGeom>
            <a:avLst/>
            <a:gdLst/>
            <a:ahLst/>
            <a:cxnLst/>
            <a:rect l="l" t="t" r="r" b="b"/>
            <a:pathLst>
              <a:path w="10726560" h="947520">
                <a:moveTo>
                  <a:pt x="0" y="0"/>
                </a:moveTo>
                <a:lnTo>
                  <a:pt x="10726560" y="0"/>
                </a:lnTo>
                <a:lnTo>
                  <a:pt x="10726560" y="947520"/>
                </a:lnTo>
                <a:lnTo>
                  <a:pt x="0" y="94752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grpSp>
        <p:nvGrpSpPr>
          <p:cNvPr id="11" name="Group 11"/>
          <p:cNvGrpSpPr/>
          <p:nvPr/>
        </p:nvGrpSpPr>
        <p:grpSpPr>
          <a:xfrm>
            <a:off x="443520" y="2037240"/>
            <a:ext cx="4738080" cy="710640"/>
            <a:chOff x="0" y="0"/>
            <a:chExt cx="5234880" cy="947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34880" cy="947520"/>
            </a:xfrm>
            <a:custGeom>
              <a:avLst/>
              <a:gdLst/>
              <a:ahLst/>
              <a:cxnLst/>
              <a:rect l="l" t="t" r="r" b="b"/>
              <a:pathLst>
                <a:path w="5234880" h="947520">
                  <a:moveTo>
                    <a:pt x="0" y="0"/>
                  </a:moveTo>
                  <a:lnTo>
                    <a:pt x="5234880" y="0"/>
                  </a:lnTo>
                  <a:lnTo>
                    <a:pt x="5234880" y="947520"/>
                  </a:lnTo>
                  <a:lnTo>
                    <a:pt x="0" y="947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5234880" cy="10141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598"/>
                </a:lnSpc>
              </a:pPr>
              <a:r>
                <a:rPr lang="en-US" sz="4000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CONCLUSIONS:</a:t>
              </a:r>
            </a:p>
          </p:txBody>
        </p:sp>
      </p:grpSp>
      <p:sp>
        <p:nvSpPr>
          <p:cNvPr id="14" name="Freeform 14" descr="A red triangle on a black background  AI-generated content may be incorrect."/>
          <p:cNvSpPr/>
          <p:nvPr/>
        </p:nvSpPr>
        <p:spPr>
          <a:xfrm>
            <a:off x="443520" y="141120"/>
            <a:ext cx="1448640" cy="1400760"/>
          </a:xfrm>
          <a:custGeom>
            <a:avLst/>
            <a:gdLst/>
            <a:ahLst/>
            <a:cxnLst/>
            <a:rect l="l" t="t" r="r" b="b"/>
            <a:pathLst>
              <a:path w="1448640" h="1400760">
                <a:moveTo>
                  <a:pt x="0" y="0"/>
                </a:moveTo>
                <a:lnTo>
                  <a:pt x="1448640" y="0"/>
                </a:lnTo>
                <a:lnTo>
                  <a:pt x="1448640" y="1400760"/>
                </a:lnTo>
                <a:lnTo>
                  <a:pt x="0" y="1400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" r="-6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744120" y="3780000"/>
            <a:ext cx="7020000" cy="4796917"/>
          </a:xfrm>
          <a:custGeom>
            <a:avLst/>
            <a:gdLst/>
            <a:ahLst/>
            <a:cxnLst/>
            <a:rect l="l" t="t" r="r" b="b"/>
            <a:pathLst>
              <a:path w="9360000" h="6395889">
                <a:moveTo>
                  <a:pt x="0" y="0"/>
                </a:moveTo>
                <a:lnTo>
                  <a:pt x="9360000" y="0"/>
                </a:lnTo>
                <a:lnTo>
                  <a:pt x="9360000" y="6395889"/>
                </a:lnTo>
                <a:lnTo>
                  <a:pt x="0" y="639588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CE5B82-AFC9-C9F3-13D5-14A2C453156F}"/>
              </a:ext>
            </a:extLst>
          </p:cNvPr>
          <p:cNvSpPr txBox="1"/>
          <p:nvPr/>
        </p:nvSpPr>
        <p:spPr>
          <a:xfrm>
            <a:off x="789213" y="3009900"/>
            <a:ext cx="16270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smart wheelchair enhances mobility for disabled individuals through automation, obstacle detection, and GPS tracking. Its modular design allows easy adaptation to existing wheelchairs, offering a cost-effective alternative. While obstacle detection, battery efficiency, and connectivity require refinement, future upgrades like radar can improve precision. Overall, this smart wheelchair system represents a significant step forward in assistive technology, offering a practical and scalable solution for enhanced mobility.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6320" y="1880314"/>
            <a:ext cx="7156080" cy="760646"/>
            <a:chOff x="0" y="-66675"/>
            <a:chExt cx="9541440" cy="10141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6880" cy="947520"/>
            </a:xfrm>
            <a:custGeom>
              <a:avLst/>
              <a:gdLst/>
              <a:ahLst/>
              <a:cxnLst/>
              <a:rect l="l" t="t" r="r" b="b"/>
              <a:pathLst>
                <a:path w="8546880" h="947520">
                  <a:moveTo>
                    <a:pt x="0" y="0"/>
                  </a:moveTo>
                  <a:lnTo>
                    <a:pt x="8546880" y="0"/>
                  </a:lnTo>
                  <a:lnTo>
                    <a:pt x="8546880" y="947520"/>
                  </a:lnTo>
                  <a:lnTo>
                    <a:pt x="0" y="947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541440" cy="10141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5598"/>
                </a:lnSpc>
              </a:pPr>
              <a:r>
                <a:rPr lang="en-US" sz="4000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 DETAILS: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32600" y="110880"/>
            <a:ext cx="6779160" cy="1303920"/>
            <a:chOff x="0" y="0"/>
            <a:chExt cx="9038880" cy="17385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38844" cy="1738503"/>
            </a:xfrm>
            <a:custGeom>
              <a:avLst/>
              <a:gdLst/>
              <a:ahLst/>
              <a:cxnLst/>
              <a:rect l="l" t="t" r="r" b="b"/>
              <a:pathLst>
                <a:path w="9038844" h="1738503">
                  <a:moveTo>
                    <a:pt x="0" y="0"/>
                  </a:moveTo>
                  <a:lnTo>
                    <a:pt x="9038844" y="0"/>
                  </a:lnTo>
                  <a:lnTo>
                    <a:pt x="9038844" y="1738503"/>
                  </a:lnTo>
                  <a:lnTo>
                    <a:pt x="0" y="1738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0" b="-7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728280" y="3176145"/>
            <a:ext cx="3310320" cy="472455"/>
            <a:chOff x="0" y="-38100"/>
            <a:chExt cx="4413760" cy="6299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75200" cy="591840"/>
            </a:xfrm>
            <a:custGeom>
              <a:avLst/>
              <a:gdLst/>
              <a:ahLst/>
              <a:cxnLst/>
              <a:rect l="l" t="t" r="r" b="b"/>
              <a:pathLst>
                <a:path w="3775200" h="591840">
                  <a:moveTo>
                    <a:pt x="0" y="0"/>
                  </a:moveTo>
                  <a:lnTo>
                    <a:pt x="3775200" y="0"/>
                  </a:lnTo>
                  <a:lnTo>
                    <a:pt x="3775200" y="591840"/>
                  </a:lnTo>
                  <a:lnTo>
                    <a:pt x="0" y="59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413760" cy="629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 1 :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66680" y="3176145"/>
            <a:ext cx="3310320" cy="542520"/>
            <a:chOff x="0" y="-38100"/>
            <a:chExt cx="4413760" cy="7233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854880" cy="591840"/>
            </a:xfrm>
            <a:custGeom>
              <a:avLst/>
              <a:gdLst/>
              <a:ahLst/>
              <a:cxnLst/>
              <a:rect l="l" t="t" r="r" b="b"/>
              <a:pathLst>
                <a:path w="3854880" h="591840">
                  <a:moveTo>
                    <a:pt x="0" y="0"/>
                  </a:moveTo>
                  <a:lnTo>
                    <a:pt x="3854880" y="0"/>
                  </a:lnTo>
                  <a:lnTo>
                    <a:pt x="3854880" y="591840"/>
                  </a:lnTo>
                  <a:lnTo>
                    <a:pt x="0" y="59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413760" cy="7233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 2 :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939040" y="3158397"/>
            <a:ext cx="4139160" cy="765903"/>
            <a:chOff x="0" y="-38100"/>
            <a:chExt cx="4061427" cy="6299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37120" cy="591840"/>
            </a:xfrm>
            <a:custGeom>
              <a:avLst/>
              <a:gdLst/>
              <a:ahLst/>
              <a:cxnLst/>
              <a:rect l="l" t="t" r="r" b="b"/>
              <a:pathLst>
                <a:path w="3837120" h="591840">
                  <a:moveTo>
                    <a:pt x="0" y="0"/>
                  </a:moveTo>
                  <a:lnTo>
                    <a:pt x="3837120" y="0"/>
                  </a:lnTo>
                  <a:lnTo>
                    <a:pt x="3837120" y="591840"/>
                  </a:lnTo>
                  <a:lnTo>
                    <a:pt x="0" y="59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224307" y="-38100"/>
              <a:ext cx="3837120" cy="629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MEMBER 3 :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8280" y="4067280"/>
            <a:ext cx="5672520" cy="2295420"/>
            <a:chOff x="0" y="0"/>
            <a:chExt cx="7563360" cy="3060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96480" cy="2961120"/>
            </a:xfrm>
            <a:custGeom>
              <a:avLst/>
              <a:gdLst/>
              <a:ahLst/>
              <a:cxnLst/>
              <a:rect l="l" t="t" r="r" b="b"/>
              <a:pathLst>
                <a:path w="7296480" h="2961120">
                  <a:moveTo>
                    <a:pt x="0" y="0"/>
                  </a:moveTo>
                  <a:lnTo>
                    <a:pt x="7296480" y="0"/>
                  </a:lnTo>
                  <a:lnTo>
                    <a:pt x="7296480" y="2961120"/>
                  </a:lnTo>
                  <a:lnTo>
                    <a:pt x="0" y="296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266880" y="61340"/>
              <a:ext cx="7296480" cy="2999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NAME: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Ashika. B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SEMESTER: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VI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YEAR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III-Year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DEPARTMENT: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Electronics and Communication of Engineering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21660" y="4211891"/>
            <a:ext cx="5472360" cy="2220840"/>
            <a:chOff x="0" y="0"/>
            <a:chExt cx="7296480" cy="29611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96480" cy="2961120"/>
            </a:xfrm>
            <a:custGeom>
              <a:avLst/>
              <a:gdLst/>
              <a:ahLst/>
              <a:cxnLst/>
              <a:rect l="l" t="t" r="r" b="b"/>
              <a:pathLst>
                <a:path w="7296480" h="2961120">
                  <a:moveTo>
                    <a:pt x="0" y="0"/>
                  </a:moveTo>
                  <a:lnTo>
                    <a:pt x="7296480" y="0"/>
                  </a:lnTo>
                  <a:lnTo>
                    <a:pt x="7296480" y="2961120"/>
                  </a:lnTo>
                  <a:lnTo>
                    <a:pt x="0" y="296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296480" cy="2999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NAME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Harshitha. J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SEMESTER: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VI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YEAR: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III-Year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DEPARTMENT: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Electronics and Communication of Engineering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243840" y="4000500"/>
            <a:ext cx="5891760" cy="2371620"/>
            <a:chOff x="0" y="0"/>
            <a:chExt cx="7855680" cy="31621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96480" cy="2961120"/>
            </a:xfrm>
            <a:custGeom>
              <a:avLst/>
              <a:gdLst/>
              <a:ahLst/>
              <a:cxnLst/>
              <a:rect l="l" t="t" r="r" b="b"/>
              <a:pathLst>
                <a:path w="7296480" h="2961120">
                  <a:moveTo>
                    <a:pt x="0" y="0"/>
                  </a:moveTo>
                  <a:lnTo>
                    <a:pt x="7296480" y="0"/>
                  </a:lnTo>
                  <a:lnTo>
                    <a:pt x="7296480" y="2961120"/>
                  </a:lnTo>
                  <a:lnTo>
                    <a:pt x="0" y="296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559200" y="162940"/>
              <a:ext cx="7296480" cy="29992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NAME: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Swathi. S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SEMESTER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VI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YEAR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III-Year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DEPARTMENT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Electronics and Communication of Engineering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5880" y="6750225"/>
            <a:ext cx="4148520" cy="472455"/>
            <a:chOff x="-203200" y="-38100"/>
            <a:chExt cx="5531360" cy="6299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90880" cy="591840"/>
            </a:xfrm>
            <a:custGeom>
              <a:avLst/>
              <a:gdLst/>
              <a:ahLst/>
              <a:cxnLst/>
              <a:rect l="l" t="t" r="r" b="b"/>
              <a:pathLst>
                <a:path w="4790880" h="591840">
                  <a:moveTo>
                    <a:pt x="0" y="0"/>
                  </a:moveTo>
                  <a:lnTo>
                    <a:pt x="4790880" y="0"/>
                  </a:lnTo>
                  <a:lnTo>
                    <a:pt x="4790880" y="591840"/>
                  </a:lnTo>
                  <a:lnTo>
                    <a:pt x="0" y="59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-203200" y="-38100"/>
              <a:ext cx="5531360" cy="62798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TEAM MENTOR NAME: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80680" y="7417740"/>
            <a:ext cx="15502320" cy="2221560"/>
            <a:chOff x="0" y="0"/>
            <a:chExt cx="16548960" cy="29620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6548960" cy="2962080"/>
            </a:xfrm>
            <a:custGeom>
              <a:avLst/>
              <a:gdLst/>
              <a:ahLst/>
              <a:cxnLst/>
              <a:rect l="l" t="t" r="r" b="b"/>
              <a:pathLst>
                <a:path w="16548960" h="2962080">
                  <a:moveTo>
                    <a:pt x="0" y="0"/>
                  </a:moveTo>
                  <a:lnTo>
                    <a:pt x="16548960" y="0"/>
                  </a:lnTo>
                  <a:lnTo>
                    <a:pt x="16548960" y="2962080"/>
                  </a:lnTo>
                  <a:lnTo>
                    <a:pt x="0" y="29620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6548960" cy="300018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NAME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Dr. D. Veera Vanitha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DESIGNATION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: Associate Professor 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DEPARTMENT: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Electronics and Communication of Engineering</a:t>
              </a:r>
            </a:p>
            <a:p>
              <a:pPr algn="l">
                <a:lnSpc>
                  <a:spcPts val="3498"/>
                </a:lnSpc>
              </a:pPr>
              <a:r>
                <a:rPr lang="en-US" sz="2499" b="1" spc="-1" dirty="0">
                  <a:solidFill>
                    <a:srgbClr val="004AA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COLLEGE: </a:t>
              </a:r>
              <a:r>
                <a:rPr lang="en-US" sz="2499" b="1" spc="-1" dirty="0">
                  <a:latin typeface="Montserrat Bold"/>
                  <a:ea typeface="Montserrat Bold"/>
                  <a:cs typeface="Montserrat Bold"/>
                  <a:sym typeface="Montserrat Bold"/>
                </a:rPr>
                <a:t>Avinashilingam Institute for Home Science and Higher Education for Women</a:t>
              </a:r>
            </a:p>
          </p:txBody>
        </p:sp>
      </p:grpSp>
      <p:sp>
        <p:nvSpPr>
          <p:cNvPr id="31" name="Freeform 31" descr="A red triangle on a black background  AI-generated content may be incorrect."/>
          <p:cNvSpPr/>
          <p:nvPr/>
        </p:nvSpPr>
        <p:spPr>
          <a:xfrm>
            <a:off x="443520" y="141120"/>
            <a:ext cx="1448640" cy="1400760"/>
          </a:xfrm>
          <a:custGeom>
            <a:avLst/>
            <a:gdLst/>
            <a:ahLst/>
            <a:cxnLst/>
            <a:rect l="l" t="t" r="r" b="b"/>
            <a:pathLst>
              <a:path w="1448640" h="1400760">
                <a:moveTo>
                  <a:pt x="0" y="0"/>
                </a:moveTo>
                <a:lnTo>
                  <a:pt x="1448640" y="0"/>
                </a:lnTo>
                <a:lnTo>
                  <a:pt x="1448640" y="1400760"/>
                </a:lnTo>
                <a:lnTo>
                  <a:pt x="0" y="1400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" r="-68"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442</Words>
  <Application>Microsoft Office PowerPoint</Application>
  <PresentationFormat>Custom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Times New Roman</vt:lpstr>
      <vt:lpstr>Calibri</vt:lpstr>
      <vt:lpstr>Montserrat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Hackathon.pptx</dc:title>
  <dc:creator>HARSHITHA</dc:creator>
  <cp:lastModifiedBy>harshithajvadivel@outlook.com</cp:lastModifiedBy>
  <cp:revision>3</cp:revision>
  <dcterms:created xsi:type="dcterms:W3CDTF">2006-08-16T00:00:00Z</dcterms:created>
  <dcterms:modified xsi:type="dcterms:W3CDTF">2025-04-05T13:00:54Z</dcterms:modified>
  <dc:identifier>DAGjvmyobi8</dc:identifier>
</cp:coreProperties>
</file>